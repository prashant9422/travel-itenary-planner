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548640"/>
            <a:ext cx="2103120" cy="2103120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1920240"/>
            <a:ext cx="1051560" cy="1051560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2743200"/>
            <a:ext cx="685800" cy="685800"/>
          </a:xfrm>
          <a:prstGeom prst="ellipse">
            <a:avLst/>
          </a:prstGeom>
          <a:solidFill>
            <a:srgbClr val="5F7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22BEAA"/>
                </a:solidFill>
                <a:latin typeface="Aptos"/>
              </a:defRPr>
            </a:pPr>
            <a:r>
              <a:t>GENAI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772400" cy="1645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Travel Itinerary</a:t>
            </a:r>
            <a:br/>
            <a:r>
              <a:t>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694944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900" b="0">
                <a:solidFill>
                  <a:srgbClr val="D1DCEC"/>
                </a:solidFill>
                <a:latin typeface="Aptos"/>
              </a:defRPr>
            </a:pPr>
            <a:r>
              <a:t>Personalized day-by-day travel plans powered by Generative AI and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800600"/>
            <a:ext cx="1600200" cy="438912"/>
          </a:xfrm>
          <a:prstGeom prst="roundRect">
            <a:avLst/>
          </a:prstGeom>
          <a:solidFill>
            <a:srgbClr val="233756"/>
          </a:solidFill>
          <a:ln>
            <a:solidFill>
              <a:srgbClr val="415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19472"/>
            <a:ext cx="15087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PREFERENCES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4800600"/>
            <a:ext cx="1325880" cy="438912"/>
          </a:xfrm>
          <a:prstGeom prst="roundRect">
            <a:avLst/>
          </a:prstGeom>
          <a:solidFill>
            <a:srgbClr val="233756"/>
          </a:solidFill>
          <a:ln>
            <a:solidFill>
              <a:srgbClr val="415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4919472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4800600"/>
            <a:ext cx="1325880" cy="438912"/>
          </a:xfrm>
          <a:prstGeom prst="roundRect">
            <a:avLst/>
          </a:prstGeom>
          <a:solidFill>
            <a:srgbClr val="233756"/>
          </a:solidFill>
          <a:ln>
            <a:solidFill>
              <a:srgbClr val="415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4919472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4800600"/>
            <a:ext cx="1325880" cy="438912"/>
          </a:xfrm>
          <a:prstGeom prst="roundRect">
            <a:avLst/>
          </a:prstGeom>
          <a:solidFill>
            <a:srgbClr val="233756"/>
          </a:solidFill>
          <a:ln>
            <a:solidFill>
              <a:srgbClr val="415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919472"/>
            <a:ext cx="12801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ITINERARY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4114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AABCD2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B4C2D4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B4C2D4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877D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121D36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100" b="1">
                <a:solidFill>
                  <a:srgbClr val="121D36"/>
                </a:solidFill>
                <a:latin typeface="Aptos"/>
              </a:defRPr>
            </a:pPr>
            <a:r>
              <a:t>Travel planning often means collecting information from many sources and balancing time, interests, and budget.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24328"/>
            <a:ext cx="64008" cy="188366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15768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36392"/>
            <a:ext cx="3017520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Destination, dates, budget, travelers, interests and preferences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5146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624328"/>
            <a:ext cx="64008" cy="188366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715768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AI-POWERED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36392"/>
            <a:ext cx="3017520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Relevant context is retrieved and passed to a language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51460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624328"/>
            <a:ext cx="64008" cy="188366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715768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36392"/>
            <a:ext cx="3017520" cy="1353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Daily activities, travel tips, estimated costs and downloadable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900" b="1">
                <a:solidFill>
                  <a:srgbClr val="00877D"/>
                </a:solidFill>
                <a:latin typeface="Aptos"/>
              </a:defRPr>
            </a:pPr>
            <a:r>
              <a:t>Goal: make the first draft of a personalized trip easier to create.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877D"/>
                </a:solidFill>
                <a:latin typeface="Aptos"/>
              </a:defRPr>
            </a:pPr>
            <a:r>
              <a:t>02 •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121D36"/>
                </a:solidFill>
                <a:latin typeface="Aptos"/>
              </a:defRPr>
            </a:pPr>
            <a:r>
              <a:t>What the application provides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18488"/>
            <a:ext cx="64008" cy="138074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9928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Personalized itinerary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4709159" cy="8503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Daily activities based on interests and travel 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18488"/>
            <a:ext cx="64008" cy="138074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09928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Input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30552"/>
            <a:ext cx="4709159" cy="8503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Checks dates, positive budget and origin/destination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67328"/>
            <a:ext cx="64008" cy="138074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858768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Cost estimates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4709159" cy="8503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Accommodation, sample flight fares and activity costs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67328"/>
            <a:ext cx="64008" cy="138074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58768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Downloadable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79392"/>
            <a:ext cx="4709159" cy="8503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Export the plan as Markdown or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22BEAA"/>
                </a:solidFill>
                <a:latin typeface="Aptos"/>
              </a:defRPr>
            </a:pPr>
            <a:r>
              <a:t>03 • ARCHITECTURE 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868680"/>
          </a:xfrm>
          <a:prstGeom prst="roundRect">
            <a:avLst/>
          </a:prstGeom>
          <a:solidFill>
            <a:srgbClr val="192846"/>
          </a:solidFill>
          <a:ln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27048"/>
            <a:ext cx="64008" cy="64922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18488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4800600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BE4EF"/>
                </a:solidFill>
                <a:latin typeface="Aptos"/>
              </a:defRPr>
            </a:pPr>
            <a:r>
              <a:t>Interactive Python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212080" cy="868680"/>
          </a:xfrm>
          <a:prstGeom prst="roundRect">
            <a:avLst/>
          </a:prstGeom>
          <a:solidFill>
            <a:srgbClr val="192846"/>
          </a:solidFill>
          <a:ln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527048"/>
            <a:ext cx="64008" cy="64922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18488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LangChain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39112"/>
            <a:ext cx="4800600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BE4EF"/>
                </a:solidFill>
                <a:latin typeface="Aptos"/>
              </a:defRPr>
            </a:pPr>
            <a:r>
              <a:t>Prompt preparation and model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32888"/>
            <a:ext cx="5212080" cy="868680"/>
          </a:xfrm>
          <a:prstGeom prst="roundRect">
            <a:avLst/>
          </a:prstGeom>
          <a:solidFill>
            <a:srgbClr val="192846"/>
          </a:solidFill>
          <a:ln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42616"/>
            <a:ext cx="64008" cy="64922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34056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4800600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BE4EF"/>
                </a:solidFill>
                <a:latin typeface="Aptos"/>
              </a:defRPr>
            </a:pPr>
            <a:r>
              <a:t>Local LLM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532888"/>
            <a:ext cx="5212080" cy="868680"/>
          </a:xfrm>
          <a:prstGeom prst="roundRect">
            <a:avLst/>
          </a:prstGeom>
          <a:solidFill>
            <a:srgbClr val="192846"/>
          </a:solidFill>
          <a:ln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2642616"/>
            <a:ext cx="64008" cy="64922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734056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Pydantic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4800600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BE4EF"/>
                </a:solidFill>
                <a:latin typeface="Aptos"/>
              </a:defRPr>
            </a:pPr>
            <a:r>
              <a:t>Structured input/output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48456"/>
            <a:ext cx="5212080" cy="868680"/>
          </a:xfrm>
          <a:prstGeom prst="roundRect">
            <a:avLst/>
          </a:prstGeom>
          <a:solidFill>
            <a:srgbClr val="192846"/>
          </a:solidFill>
          <a:ln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58184"/>
            <a:ext cx="64008" cy="64922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849624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Sentence Transformers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70248"/>
            <a:ext cx="4800600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BE4EF"/>
                </a:solidFill>
                <a:latin typeface="Aptos"/>
              </a:defRPr>
            </a:pPr>
            <a:r>
              <a:t>Text embeddings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648456"/>
            <a:ext cx="5212080" cy="868680"/>
          </a:xfrm>
          <a:prstGeom prst="roundRect">
            <a:avLst/>
          </a:prstGeom>
          <a:solidFill>
            <a:srgbClr val="192846"/>
          </a:solidFill>
          <a:ln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758184"/>
            <a:ext cx="64008" cy="64922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849624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ChromaDB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800600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BE4EF"/>
                </a:solidFill>
                <a:latin typeface="Aptos"/>
              </a:defRPr>
            </a:pPr>
            <a:r>
              <a:t>Vector storage and retrieval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764024"/>
            <a:ext cx="5212080" cy="868680"/>
          </a:xfrm>
          <a:prstGeom prst="roundRect">
            <a:avLst/>
          </a:prstGeom>
          <a:solidFill>
            <a:srgbClr val="192846"/>
          </a:solidFill>
          <a:ln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873752"/>
            <a:ext cx="64008" cy="64922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96519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CSV + Markdown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385816"/>
            <a:ext cx="4800600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BE4EF"/>
                </a:solidFill>
                <a:latin typeface="Aptos"/>
              </a:defRPr>
            </a:pPr>
            <a:r>
              <a:t>Sample travel knowledge 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764024"/>
            <a:ext cx="5212080" cy="868680"/>
          </a:xfrm>
          <a:prstGeom prst="roundRect">
            <a:avLst/>
          </a:prstGeom>
          <a:solidFill>
            <a:srgbClr val="192846"/>
          </a:solidFill>
          <a:ln>
            <a:solidFill>
              <a:srgbClr val="394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4873752"/>
            <a:ext cx="64008" cy="64922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965192"/>
            <a:ext cx="4800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Provider options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385816"/>
            <a:ext cx="4800600" cy="1188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BE4EF"/>
                </a:solidFill>
                <a:latin typeface="Aptos"/>
              </a:defRPr>
            </a:pPr>
            <a:r>
              <a:t>OpenAI and Gemini can be configured too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B4C2D4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B4C2D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877D"/>
                </a:solidFill>
                <a:latin typeface="Aptos"/>
              </a:defRPr>
            </a:pPr>
            <a:r>
              <a:t>04 • REQUEST TO ITINERARY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121D36"/>
                </a:solidFill>
                <a:latin typeface="Aptos"/>
              </a:defRPr>
            </a:pPr>
            <a:r>
              <a:t>End-to-end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00200"/>
            <a:ext cx="438912" cy="438912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0078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121D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2763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21D36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75688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User enters trip details</a:t>
            </a:r>
          </a:p>
        </p:txBody>
      </p:sp>
      <p:sp>
        <p:nvSpPr>
          <p:cNvPr id="8" name="Oval 7"/>
          <p:cNvSpPr/>
          <p:nvPr/>
        </p:nvSpPr>
        <p:spPr>
          <a:xfrm>
            <a:off x="4526280" y="1600200"/>
            <a:ext cx="438912" cy="438912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0078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121D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62763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21D36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75688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Check dates, budget and locations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1600200"/>
            <a:ext cx="438912" cy="438912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70078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121D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62763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21D36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075688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Find matching sample data and RAG context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49039"/>
            <a:ext cx="438912" cy="438912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849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121D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21D36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224527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LangChain sends a grounded prompt to the LLM</a:t>
            </a:r>
          </a:p>
        </p:txBody>
      </p:sp>
      <p:sp>
        <p:nvSpPr>
          <p:cNvPr id="20" name="Oval 19"/>
          <p:cNvSpPr/>
          <p:nvPr/>
        </p:nvSpPr>
        <p:spPr>
          <a:xfrm>
            <a:off x="4526280" y="3749039"/>
            <a:ext cx="438912" cy="438912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3849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121D3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77647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21D36"/>
                </a:solidFill>
                <a:latin typeface="Aptos"/>
              </a:defRPr>
            </a:pPr>
            <a:r>
              <a:t>Estimate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224527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Calculate sample trip costs and compare budget</a:t>
            </a:r>
          </a:p>
        </p:txBody>
      </p:sp>
      <p:sp>
        <p:nvSpPr>
          <p:cNvPr id="24" name="Oval 23"/>
          <p:cNvSpPr/>
          <p:nvPr/>
        </p:nvSpPr>
        <p:spPr>
          <a:xfrm>
            <a:off x="8321040" y="3749039"/>
            <a:ext cx="438912" cy="438912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849624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121D3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77647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21D36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224527"/>
            <a:ext cx="27432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64748B"/>
                </a:solidFill>
                <a:latin typeface="Aptos"/>
              </a:defRPr>
            </a:pPr>
            <a:r>
              <a:t>Show itinerary and enable file 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00877D"/>
                </a:solidFill>
                <a:latin typeface="Aptos"/>
              </a:defRPr>
            </a:pPr>
            <a:r>
              <a:t>The result is a structured itinerary—not a live booking or verified quote.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877D"/>
                </a:solidFill>
                <a:latin typeface="Aptos"/>
              </a:defRPr>
            </a:pPr>
            <a:r>
              <a:t>05 • RETRIEVAL-AUGMENTED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121D36"/>
                </a:solidFill>
                <a:latin typeface="Aptos"/>
              </a:defRPr>
            </a:pPr>
            <a:r>
              <a:t>How RAG works in this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75688"/>
            <a:ext cx="64008" cy="183794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6712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Travel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87752"/>
            <a:ext cx="1645920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CSV data and Markdown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2" y="2697480"/>
            <a:ext cx="228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400" b="1">
                <a:solidFill>
                  <a:srgbClr val="22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9659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2075688"/>
            <a:ext cx="64008" cy="183794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39" y="216712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39" y="2587752"/>
            <a:ext cx="1645920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Sentence Transformers represent text numerically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1" y="2697480"/>
            <a:ext cx="228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400" b="1">
                <a:solidFill>
                  <a:srgbClr val="22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9659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66359" y="2075688"/>
            <a:ext cx="64008" cy="183794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216712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Vector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59" y="2587752"/>
            <a:ext cx="1645920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ChromaDB stores the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2697480"/>
            <a:ext cx="228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400" b="1">
                <a:solidFill>
                  <a:srgbClr val="22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9659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2075688"/>
            <a:ext cx="64008" cy="1837943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216712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2587752"/>
            <a:ext cx="1645920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Find relevant context for the user's trip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1" y="2697480"/>
            <a:ext cx="228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400" b="1">
                <a:solidFill>
                  <a:srgbClr val="22BEA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965960"/>
            <a:ext cx="2057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29800" y="2075688"/>
            <a:ext cx="64008" cy="1837943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2167128"/>
            <a:ext cx="1645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587752"/>
            <a:ext cx="1645920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Pass retrieved context into the LLM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6177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21D36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12978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029200"/>
            <a:ext cx="10259568" cy="4526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2D3A4E"/>
                </a:solidFill>
                <a:latin typeface="Aptos"/>
              </a:defRPr>
            </a:pPr>
            <a:r>
              <a:t>Provides project-specific context to the model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60984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5509260"/>
            <a:ext cx="10259568" cy="4526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2D3A4E"/>
                </a:solidFill>
                <a:latin typeface="Aptos"/>
              </a:defRPr>
            </a:pPr>
            <a:r>
              <a:t>Can reduce unsupported answers, but does not guarantee correctness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00877D"/>
                </a:solidFill>
                <a:latin typeface="Aptos"/>
              </a:defRPr>
            </a:pPr>
            <a:r>
              <a:t>06 • IMPORTANT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121D36"/>
                </a:solidFill>
                <a:latin typeface="Aptos"/>
              </a:defRPr>
            </a:pPr>
            <a:r>
              <a:t>Cost estimation &amp; current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27048"/>
            <a:ext cx="64008" cy="110642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18488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Accommodation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39112"/>
            <a:ext cx="4754880" cy="5760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Nights × sample nightly rate × estimated rooms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27048"/>
            <a:ext cx="64008" cy="1106424"/>
          </a:xfrm>
          <a:prstGeom prst="rect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18488"/>
            <a:ext cx="47548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121D36"/>
                </a:solidFill>
                <a:latin typeface="Aptos"/>
              </a:defRPr>
            </a:pPr>
            <a:r>
              <a:t>Flights and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39112"/>
            <a:ext cx="4754880" cy="5760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Sample one-way fare × travelers, plus estimated activity costs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3657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100" b="1">
                <a:solidFill>
                  <a:srgbClr val="121D36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80390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703320"/>
            <a:ext cx="10442448" cy="46405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2D3A4E"/>
                </a:solidFill>
                <a:latin typeface="Aptos"/>
              </a:defRPr>
            </a:pPr>
            <a:r>
              <a:t>Sample data is illustrative and may not reflect real-world availability.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9539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194809"/>
            <a:ext cx="10442448" cy="46405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2D3A4E"/>
                </a:solidFill>
                <a:latin typeface="Aptos"/>
              </a:defRPr>
            </a:pPr>
            <a:r>
              <a:t>No live flight/hotel prices, reservations or bookings.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8688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686300"/>
            <a:ext cx="10442448" cy="46405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2D3A4E"/>
                </a:solidFill>
                <a:latin typeface="Aptos"/>
              </a:defRPr>
            </a:pPr>
            <a:r>
              <a:t>Meals, local transport, taxes and other expenses may be excluded.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27837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5177790"/>
            <a:ext cx="10442448" cy="464057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0">
                <a:solidFill>
                  <a:srgbClr val="2D3A4E"/>
                </a:solidFill>
                <a:latin typeface="Aptos"/>
              </a:defRPr>
            </a:pPr>
            <a:r>
              <a:t>If destination data is missing, the app avoids fabricating an itinerary.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4748B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22BEAA"/>
                </a:solidFill>
                <a:latin typeface="Aptos"/>
              </a:defRPr>
            </a:pPr>
            <a:r>
              <a:t>07 •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22BEA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371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Verified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71600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CAD7E8"/>
                </a:solidFill>
                <a:latin typeface="Aptos"/>
              </a:defRPr>
            </a:pPr>
            <a:r>
              <a:t>Use trusted, source-linked travel information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7685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22BEA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76856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Live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6856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CAD7E8"/>
                </a:solidFill>
                <a:latin typeface="Aptos"/>
              </a:defRPr>
            </a:pPr>
            <a:r>
              <a:t>Authorized flight, hotel, maps and attraction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22BEA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182112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Smarter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182112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CAD7E8"/>
                </a:solidFill>
                <a:latin typeface="Aptos"/>
              </a:defRPr>
            </a:pPr>
            <a:r>
              <a:t>Use LangGraph for retrieval, drafting and review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8736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22BEA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87368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Feasibility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087368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CAD7E8"/>
                </a:solidFill>
                <a:latin typeface="Aptos"/>
              </a:defRPr>
            </a:pPr>
            <a:r>
              <a:t>Validate travel time, opening hours and 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92624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22BEA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992624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Production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992624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0">
                <a:solidFill>
                  <a:srgbClr val="CAD7E8"/>
                </a:solidFill>
                <a:latin typeface="Aptos"/>
              </a:defRPr>
            </a:pPr>
            <a:r>
              <a:t>Accounts, privacy, monitoring, evaluation and booking 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B4C2D4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B4C2D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22BEAA"/>
                </a:solidFill>
                <a:latin typeface="Aptos"/>
              </a:defRPr>
            </a:pPr>
            <a: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87552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Personalized travel planning,</a:t>
            </a:r>
            <a:br/>
            <a:r>
              <a:t>with AI and retrieved context.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343814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" y="3337560"/>
            <a:ext cx="9619488" cy="5516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Combines Streamlit, LangChain, RAG and a vector database.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401726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3916680"/>
            <a:ext cx="9619488" cy="5516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Turns traveler preferences into a structured itinerary and cost estimate.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596384"/>
            <a:ext cx="109728" cy="109728"/>
          </a:xfrm>
          <a:prstGeom prst="ellipse">
            <a:avLst/>
          </a:prstGeom>
          <a:solidFill>
            <a:srgbClr val="22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4495799"/>
            <a:ext cx="9619488" cy="5516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Creates a useful draft that still requires real-world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15000"/>
            <a:ext cx="36576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B4C2D4"/>
                </a:solidFill>
                <a:latin typeface="Aptos"/>
              </a:defRPr>
            </a:pPr>
            <a:r>
              <a:t>GENAI TRAVEL ITINERARY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B4C2D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